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P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8" name="PlaceHolder 4"/>
          <p:cNvSpPr>
            <a:spLocks noGrp="1"/>
          </p:cNvSpPr>
          <p:nvPr>
            <p:ph type="dt" idx="3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9" name="PlaceHolder 5"/>
          <p:cNvSpPr>
            <a:spLocks noGrp="1"/>
          </p:cNvSpPr>
          <p:nvPr>
            <p:ph type="ftr" idx="3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0" name="PlaceHolder 6"/>
          <p:cNvSpPr>
            <a:spLocks noGrp="1"/>
          </p:cNvSpPr>
          <p:nvPr>
            <p:ph type="sldNum" idx="3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4C3E5DD-A724-4BDF-9EBD-9EE4F5F753D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scikit-learn in the Python data science “constellation”</a:t>
            </a:r>
          </a:p>
        </p:txBody>
      </p:sp>
      <p:sp>
        <p:nvSpPr>
          <p:cNvPr id="22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E1ABD8-5BF2-487A-A862-8A4F656FD85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9050974-EA25-4150-802A-2070BAFA568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685800">
              <a:lnSpc>
                <a:spcPct val="90000"/>
              </a:lnSpc>
              <a:buNone/>
            </a:pPr>
            <a:r>
              <a:rPr lang="en-US" sz="4500" b="0" u="none" strike="noStrike">
                <a:solidFill>
                  <a:srgbClr val="23CB87"/>
                </a:solidFill>
                <a:effectLst/>
                <a:uFillTx/>
                <a:latin typeface="DIN Alternate"/>
              </a:rPr>
              <a:t>Click to edit Master title style</a:t>
            </a:r>
            <a:endParaRPr lang="en-US" sz="4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EF11A8-1657-4AB7-9A6F-B143B5EE0A89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rgbClr val="23CB87"/>
                </a:solidFill>
                <a:effectLst/>
                <a:uFillTx/>
                <a:latin typeface="DIN Alternate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Second level</a:t>
            </a: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Third level</a:t>
            </a: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Fourth level</a:t>
            </a: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Fifth level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A04E3B-CD68-4B97-8A56-4AEB8904471E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rgbClr val="23CB87"/>
                </a:solidFill>
                <a:effectLst/>
                <a:uFillTx/>
                <a:latin typeface="DIN Alternate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Second level</a:t>
            </a: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Third level</a:t>
            </a: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Fourth level</a:t>
            </a: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Fifth level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4615E5-A680-479A-A35B-C93A56C38A4B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body"/>
          </p:nvPr>
        </p:nvSpPr>
        <p:spPr>
          <a:xfrm>
            <a:off x="415440" y="1536480"/>
            <a:ext cx="11360520" cy="455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609480" indent="-457200" defTabSz="685800">
              <a:lnSpc>
                <a:spcPct val="9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sldNum" idx="10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AD0B57-7133-42A8-A779-EAC8CC2B68C1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Google Shape;19;p4"/>
          <p:cNvSpPr/>
          <p:nvPr/>
        </p:nvSpPr>
        <p:spPr>
          <a:xfrm>
            <a:off x="0" y="0"/>
            <a:ext cx="12191760" cy="1410840"/>
          </a:xfrm>
          <a:prstGeom prst="rect">
            <a:avLst/>
          </a:prstGeom>
          <a:solidFill>
            <a:srgbClr val="2827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Google Shape;20;p4"/>
          <p:cNvSpPr/>
          <p:nvPr/>
        </p:nvSpPr>
        <p:spPr>
          <a:xfrm rot="5400000">
            <a:off x="916560" y="783360"/>
            <a:ext cx="292680" cy="190440"/>
          </a:xfrm>
          <a:prstGeom prst="triangle">
            <a:avLst>
              <a:gd name="adj" fmla="val 50000"/>
            </a:avLst>
          </a:prstGeom>
          <a:solidFill>
            <a:srgbClr val="F6C0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47520" rIns="122040" bIns="47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title"/>
          </p:nvPr>
        </p:nvSpPr>
        <p:spPr>
          <a:xfrm>
            <a:off x="1197360" y="501480"/>
            <a:ext cx="1057896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3459" b="1" u="none" strike="noStrike">
                <a:solidFill>
                  <a:srgbClr val="FFFFFF"/>
                </a:solidFill>
                <a:effectLst/>
                <a:uFillTx/>
                <a:latin typeface="PT Sans"/>
                <a:ea typeface="PT Sans"/>
              </a:rPr>
              <a:t>Click to edit Master title style</a:t>
            </a:r>
            <a:endParaRPr lang="en-US" sz="345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rgbClr val="23CB87"/>
                </a:solidFill>
                <a:effectLst/>
                <a:uFillTx/>
                <a:latin typeface="DIN Alternate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Second level</a:t>
            </a: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Third level</a:t>
            </a: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Fourth level</a:t>
            </a: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Fifth level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dt" idx="1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sldNum" idx="1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CF16AB-9831-41D3-92F1-1842EEABC3AD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4500" b="0" u="none" strike="noStrike">
                <a:solidFill>
                  <a:srgbClr val="23CB87"/>
                </a:solidFill>
                <a:effectLst/>
                <a:uFillTx/>
                <a:latin typeface="DIN Alternate"/>
              </a:rPr>
              <a:t>Click to edit Master title style</a:t>
            </a:r>
            <a:endParaRPr lang="en-US" sz="4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5"/>
          <p:cNvSpPr>
            <a:spLocks noGrp="1"/>
          </p:cNvSpPr>
          <p:nvPr>
            <p:ph type="sldNum" idx="1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6E1347-261D-4912-A3D6-812437B56E5A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rgbClr val="23CB87"/>
                </a:solidFill>
                <a:effectLst/>
                <a:uFillTx/>
                <a:latin typeface="DIN Alternate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Second level</a:t>
            </a: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Third level</a:t>
            </a: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Fourth level</a:t>
            </a: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Fifth level</a:t>
            </a: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Second level</a:t>
            </a: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Third level</a:t>
            </a: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Fourth level</a:t>
            </a: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Fifth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dt" idx="1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sldNum" idx="1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D01EF4-4E06-4384-A843-C539828B599F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rgbClr val="23CB87"/>
                </a:solidFill>
                <a:effectLst/>
                <a:uFillTx/>
                <a:latin typeface="DIN Alternate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Second level</a:t>
            </a: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Third level</a:t>
            </a: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Fourth level</a:t>
            </a: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Fifth level</a:t>
            </a: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Second level</a:t>
            </a: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Third level</a:t>
            </a: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Fourth level</a:t>
            </a: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Fifth level</a:t>
            </a:r>
          </a:p>
        </p:txBody>
      </p:sp>
      <p:sp>
        <p:nvSpPr>
          <p:cNvPr id="41" name="PlaceHolder 6"/>
          <p:cNvSpPr>
            <a:spLocks noGrp="1"/>
          </p:cNvSpPr>
          <p:nvPr>
            <p:ph type="dt" idx="2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8"/>
          <p:cNvSpPr>
            <a:spLocks noGrp="1"/>
          </p:cNvSpPr>
          <p:nvPr>
            <p:ph type="sldNum" idx="2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3156F3-CC99-4240-B95A-FD6F521E961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rgbClr val="23CB87"/>
                </a:solidFill>
                <a:effectLst/>
                <a:uFillTx/>
                <a:latin typeface="DIN Alternate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7" name="PlaceHolder 4"/>
          <p:cNvSpPr>
            <a:spLocks noGrp="1"/>
          </p:cNvSpPr>
          <p:nvPr>
            <p:ph type="sldNum" idx="2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7B9ABB-42BE-47D2-BE6E-EBF506EAEC69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dt" idx="2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2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0" name="PlaceHolder 3"/>
          <p:cNvSpPr>
            <a:spLocks noGrp="1"/>
          </p:cNvSpPr>
          <p:nvPr>
            <p:ph type="sldNum" idx="2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107BDD-9A66-4C18-A39B-03AEE31BE448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2400" b="0" u="none" strike="noStrike">
                <a:solidFill>
                  <a:srgbClr val="23CB87"/>
                </a:solidFill>
                <a:effectLst/>
                <a:uFillTx/>
                <a:latin typeface="DIN Alternate"/>
              </a:rPr>
              <a:t>Click to edit Master title style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Second level</a:t>
            </a: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Third level</a:t>
            </a: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Fourth level</a:t>
            </a: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Fifth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2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F095F6-82BF-47CA-8D21-6D4164CBEBD3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2400" b="0" u="none" strike="noStrike">
                <a:solidFill>
                  <a:srgbClr val="23CB87"/>
                </a:solidFill>
                <a:effectLst/>
                <a:uFillTx/>
                <a:latin typeface="DIN Alternate"/>
              </a:rPr>
              <a:t>Click to edit Master title style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</a:p>
        </p:txBody>
      </p:sp>
      <p:sp>
        <p:nvSpPr>
          <p:cNvPr id="62" name="PlaceHolder 4"/>
          <p:cNvSpPr>
            <a:spLocks noGrp="1"/>
          </p:cNvSpPr>
          <p:nvPr>
            <p:ph type="dt" idx="3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4" name="PlaceHolder 6"/>
          <p:cNvSpPr>
            <a:spLocks noGrp="1"/>
          </p:cNvSpPr>
          <p:nvPr>
            <p:ph type="sldNum" idx="3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5339B5-30F3-4CB0-AB7C-C910B8BC9F03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10.png"/><Relationship Id="rId10" Type="http://schemas.openxmlformats.org/officeDocument/2006/relationships/image" Target="../media/image21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25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0.png"/><Relationship Id="rId3" Type="http://schemas.openxmlformats.org/officeDocument/2006/relationships/image" Target="../media/image34.png"/><Relationship Id="rId7" Type="http://schemas.openxmlformats.org/officeDocument/2006/relationships/image" Target="../media/image22.png"/><Relationship Id="rId12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11" Type="http://schemas.openxmlformats.org/officeDocument/2006/relationships/image" Target="../media/image38.png"/><Relationship Id="rId5" Type="http://schemas.openxmlformats.org/officeDocument/2006/relationships/image" Target="../media/image30.png"/><Relationship Id="rId10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37.png"/><Relationship Id="rId1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685800">
              <a:lnSpc>
                <a:spcPct val="90000"/>
              </a:lnSpc>
              <a:buNone/>
            </a:pPr>
            <a:r>
              <a:rPr lang="en-US" sz="4500" b="0" u="none" strike="noStrike">
                <a:solidFill>
                  <a:srgbClr val="23CB87"/>
                </a:solidFill>
                <a:effectLst/>
                <a:uFillTx/>
                <a:latin typeface="DIN Alternate"/>
              </a:rPr>
              <a:t>Scikit-learn</a:t>
            </a:r>
            <a:endParaRPr lang="en-US" sz="4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An express introduction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59840" y="93600"/>
            <a:ext cx="10515240" cy="48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rgbClr val="23CB87"/>
                </a:solidFill>
                <a:effectLst/>
                <a:uFillTx/>
                <a:latin typeface="DIN Alternate"/>
              </a:rPr>
              <a:t>Scikit-learn in the Python data science “ecosystem”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3"/>
          <p:cNvPicPr/>
          <p:nvPr/>
        </p:nvPicPr>
        <p:blipFill>
          <a:blip r:embed="rId3"/>
          <a:stretch/>
        </p:blipFill>
        <p:spPr>
          <a:xfrm>
            <a:off x="405360" y="3217680"/>
            <a:ext cx="7151040" cy="20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Box 5"/>
          <p:cNvSpPr/>
          <p:nvPr/>
        </p:nvSpPr>
        <p:spPr>
          <a:xfrm>
            <a:off x="2971800" y="2514600"/>
            <a:ext cx="3094560" cy="64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Core Scientific Python Tools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(https://scientific-python.org/)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Picture 9"/>
          <p:cNvPicPr/>
          <p:nvPr/>
        </p:nvPicPr>
        <p:blipFill>
          <a:blip r:embed="rId4"/>
          <a:stretch/>
        </p:blipFill>
        <p:spPr>
          <a:xfrm>
            <a:off x="392760" y="5412240"/>
            <a:ext cx="618120" cy="77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2" descr="Show notebooks in Drive"/>
          <p:cNvPicPr/>
          <p:nvPr/>
        </p:nvPicPr>
        <p:blipFill>
          <a:blip r:embed="rId5"/>
          <a:stretch/>
        </p:blipFill>
        <p:spPr>
          <a:xfrm>
            <a:off x="1649520" y="5334480"/>
            <a:ext cx="932040" cy="93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10"/>
          <p:cNvSpPr/>
          <p:nvPr/>
        </p:nvSpPr>
        <p:spPr>
          <a:xfrm>
            <a:off x="186480" y="6266880"/>
            <a:ext cx="262620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Interactive Environments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4"/>
          <p:cNvSpPr/>
          <p:nvPr/>
        </p:nvSpPr>
        <p:spPr>
          <a:xfrm>
            <a:off x="159840" y="2419200"/>
            <a:ext cx="7557120" cy="28170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ounded Rectangle 6"/>
          <p:cNvSpPr/>
          <p:nvPr/>
        </p:nvSpPr>
        <p:spPr>
          <a:xfrm>
            <a:off x="172080" y="4395240"/>
            <a:ext cx="2664000" cy="23688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Picture 6" descr="scikit-learn – Wikipédia, a enciclopédia livre"/>
          <p:cNvPicPr/>
          <p:nvPr/>
        </p:nvPicPr>
        <p:blipFill>
          <a:blip r:embed="rId6"/>
          <a:stretch/>
        </p:blipFill>
        <p:spPr>
          <a:xfrm>
            <a:off x="345240" y="958320"/>
            <a:ext cx="1211760" cy="65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Picture 8" descr="Installing scikit-image — skimage v0.19.0.dev0 docs"/>
          <p:cNvPicPr/>
          <p:nvPr/>
        </p:nvPicPr>
        <p:blipFill>
          <a:blip r:embed="rId7"/>
          <a:stretch/>
        </p:blipFill>
        <p:spPr>
          <a:xfrm>
            <a:off x="327960" y="1851120"/>
            <a:ext cx="1958040" cy="48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Picture 17"/>
          <p:cNvPicPr/>
          <p:nvPr/>
        </p:nvPicPr>
        <p:blipFill>
          <a:blip r:embed="rId8"/>
          <a:stretch/>
        </p:blipFill>
        <p:spPr>
          <a:xfrm>
            <a:off x="1672920" y="1020600"/>
            <a:ext cx="1984680" cy="57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Box 24"/>
          <p:cNvSpPr/>
          <p:nvPr/>
        </p:nvSpPr>
        <p:spPr>
          <a:xfrm>
            <a:off x="5785560" y="870120"/>
            <a:ext cx="182592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Specialised “kits”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Picture 4" descr="PyTorch Logo"/>
          <p:cNvPicPr/>
          <p:nvPr/>
        </p:nvPicPr>
        <p:blipFill>
          <a:blip r:embed="rId9"/>
          <a:stretch/>
        </p:blipFill>
        <p:spPr>
          <a:xfrm>
            <a:off x="6172200" y="1527480"/>
            <a:ext cx="1507320" cy="30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Picture 8"/>
          <p:cNvPicPr/>
          <p:nvPr/>
        </p:nvPicPr>
        <p:blipFill>
          <a:blip r:embed="rId10"/>
          <a:stretch/>
        </p:blipFill>
        <p:spPr>
          <a:xfrm>
            <a:off x="5532120" y="1909440"/>
            <a:ext cx="1097280" cy="344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Picture 12"/>
          <p:cNvPicPr/>
          <p:nvPr/>
        </p:nvPicPr>
        <p:blipFill>
          <a:blip r:embed="rId11"/>
          <a:stretch/>
        </p:blipFill>
        <p:spPr>
          <a:xfrm>
            <a:off x="3822480" y="1038960"/>
            <a:ext cx="1211760" cy="49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Picture 10" descr="The Biopython Project"/>
          <p:cNvPicPr/>
          <p:nvPr/>
        </p:nvPicPr>
        <p:blipFill>
          <a:blip r:embed="rId12"/>
          <a:stretch/>
        </p:blipFill>
        <p:spPr>
          <a:xfrm>
            <a:off x="2579040" y="1719360"/>
            <a:ext cx="849960" cy="56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19"/>
          <p:cNvPicPr/>
          <p:nvPr/>
        </p:nvPicPr>
        <p:blipFill>
          <a:blip r:embed="rId13"/>
          <a:stretch/>
        </p:blipFill>
        <p:spPr>
          <a:xfrm>
            <a:off x="3795840" y="1692360"/>
            <a:ext cx="1223280" cy="46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21"/>
          <p:cNvPicPr/>
          <p:nvPr/>
        </p:nvPicPr>
        <p:blipFill>
          <a:blip r:embed="rId14"/>
          <a:stretch/>
        </p:blipFill>
        <p:spPr>
          <a:xfrm>
            <a:off x="8019720" y="3637800"/>
            <a:ext cx="743040" cy="96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Picture 22"/>
          <p:cNvPicPr/>
          <p:nvPr/>
        </p:nvPicPr>
        <p:blipFill>
          <a:blip r:embed="rId15"/>
          <a:stretch/>
        </p:blipFill>
        <p:spPr>
          <a:xfrm>
            <a:off x="7957080" y="4700880"/>
            <a:ext cx="2102040" cy="48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Picture 18" descr="Cartopy"/>
          <p:cNvPicPr/>
          <p:nvPr/>
        </p:nvPicPr>
        <p:blipFill>
          <a:blip r:embed="rId16"/>
          <a:stretch/>
        </p:blipFill>
        <p:spPr>
          <a:xfrm>
            <a:off x="8929440" y="3783960"/>
            <a:ext cx="1351800" cy="68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Box 33"/>
          <p:cNvSpPr/>
          <p:nvPr/>
        </p:nvSpPr>
        <p:spPr>
          <a:xfrm>
            <a:off x="8213400" y="3300480"/>
            <a:ext cx="194256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Data Visualization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Picture 2" descr="How to Build Chat into Django Applications with Twilio Programmable Chat -  Twilio"/>
          <p:cNvPicPr/>
          <p:nvPr/>
        </p:nvPicPr>
        <p:blipFill>
          <a:blip r:embed="rId17"/>
          <a:stretch/>
        </p:blipFill>
        <p:spPr>
          <a:xfrm>
            <a:off x="8306640" y="1342440"/>
            <a:ext cx="1299600" cy="58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Picture 4" descr="GitHub - tiangolo/fastapi: FastAPI framework, high performance, easy to  learn, fast to code, ready for production"/>
          <p:cNvPicPr/>
          <p:nvPr/>
        </p:nvPicPr>
        <p:blipFill>
          <a:blip r:embed="rId18"/>
          <a:stretch/>
        </p:blipFill>
        <p:spPr>
          <a:xfrm>
            <a:off x="9607320" y="1342440"/>
            <a:ext cx="1775520" cy="64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Box 23"/>
          <p:cNvSpPr/>
          <p:nvPr/>
        </p:nvSpPr>
        <p:spPr>
          <a:xfrm>
            <a:off x="9256680" y="930960"/>
            <a:ext cx="114408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Web tools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36"/>
          <p:cNvSpPr/>
          <p:nvPr/>
        </p:nvSpPr>
        <p:spPr>
          <a:xfrm>
            <a:off x="8213400" y="874440"/>
            <a:ext cx="3118320" cy="125172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0" name="Picture 11"/>
          <p:cNvPicPr/>
          <p:nvPr/>
        </p:nvPicPr>
        <p:blipFill>
          <a:blip r:embed="rId19"/>
          <a:srcRect l="-21945"/>
          <a:stretch/>
        </p:blipFill>
        <p:spPr>
          <a:xfrm>
            <a:off x="5402520" y="4313160"/>
            <a:ext cx="670320" cy="84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Picture 13"/>
          <p:cNvPicPr/>
          <p:nvPr/>
        </p:nvPicPr>
        <p:blipFill>
          <a:blip r:embed="rId20"/>
          <a:stretch/>
        </p:blipFill>
        <p:spPr>
          <a:xfrm>
            <a:off x="5362920" y="3301200"/>
            <a:ext cx="749520" cy="73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Rectangle 15"/>
          <p:cNvSpPr/>
          <p:nvPr/>
        </p:nvSpPr>
        <p:spPr>
          <a:xfrm>
            <a:off x="5362920" y="4356000"/>
            <a:ext cx="302760" cy="777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Picture 16"/>
          <p:cNvPicPr/>
          <p:nvPr/>
        </p:nvPicPr>
        <p:blipFill>
          <a:blip r:embed="rId21"/>
          <a:stretch/>
        </p:blipFill>
        <p:spPr>
          <a:xfrm>
            <a:off x="2898720" y="3337920"/>
            <a:ext cx="751320" cy="70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Rounded Rectangle 31"/>
          <p:cNvSpPr/>
          <p:nvPr/>
        </p:nvSpPr>
        <p:spPr>
          <a:xfrm>
            <a:off x="5289120" y="3268440"/>
            <a:ext cx="5283720" cy="196776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70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2"/>
          <p:cNvSpPr/>
          <p:nvPr/>
        </p:nvSpPr>
        <p:spPr>
          <a:xfrm>
            <a:off x="0" y="1424880"/>
            <a:ext cx="1990080" cy="3312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Rectangle 13"/>
          <p:cNvSpPr/>
          <p:nvPr/>
        </p:nvSpPr>
        <p:spPr>
          <a:xfrm>
            <a:off x="1990440" y="1424880"/>
            <a:ext cx="2858760" cy="33123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angle 14"/>
          <p:cNvSpPr/>
          <p:nvPr/>
        </p:nvSpPr>
        <p:spPr>
          <a:xfrm>
            <a:off x="4849920" y="1424880"/>
            <a:ext cx="2695320" cy="3312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15"/>
          <p:cNvSpPr/>
          <p:nvPr/>
        </p:nvSpPr>
        <p:spPr>
          <a:xfrm>
            <a:off x="10427760" y="1424880"/>
            <a:ext cx="1775520" cy="33123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ectangle 17"/>
          <p:cNvSpPr/>
          <p:nvPr/>
        </p:nvSpPr>
        <p:spPr>
          <a:xfrm>
            <a:off x="7545240" y="1424880"/>
            <a:ext cx="2882160" cy="3312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228960" y="365040"/>
            <a:ext cx="10515240" cy="62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rgbClr val="23CB87"/>
                </a:solidFill>
                <a:effectLst/>
                <a:uFillTx/>
                <a:latin typeface="DIN Alternate"/>
              </a:rPr>
              <a:t>Why do we care? 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-34200" y="6492960"/>
            <a:ext cx="995328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In machine learning with Python, scikit-learn and pandas are the “glue” that holds pipelines together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4"/>
          <p:cNvSpPr/>
          <p:nvPr/>
        </p:nvSpPr>
        <p:spPr>
          <a:xfrm>
            <a:off x="181800" y="4890240"/>
            <a:ext cx="138240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Get the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5"/>
          <p:cNvSpPr/>
          <p:nvPr/>
        </p:nvSpPr>
        <p:spPr>
          <a:xfrm>
            <a:off x="4993920" y="1086480"/>
            <a:ext cx="237672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Look at the big picture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6"/>
          <p:cNvSpPr/>
          <p:nvPr/>
        </p:nvSpPr>
        <p:spPr>
          <a:xfrm>
            <a:off x="2696400" y="4890240"/>
            <a:ext cx="144684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Gain insights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7"/>
          <p:cNvSpPr/>
          <p:nvPr/>
        </p:nvSpPr>
        <p:spPr>
          <a:xfrm>
            <a:off x="5281560" y="4891680"/>
            <a:ext cx="179316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Prepare the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9"/>
          <p:cNvSpPr/>
          <p:nvPr/>
        </p:nvSpPr>
        <p:spPr>
          <a:xfrm>
            <a:off x="8226360" y="4921920"/>
            <a:ext cx="1779120" cy="64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Select and train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a model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0"/>
          <p:cNvSpPr/>
          <p:nvPr/>
        </p:nvSpPr>
        <p:spPr>
          <a:xfrm>
            <a:off x="10972800" y="4888080"/>
            <a:ext cx="86292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Deploy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Picture 18"/>
          <p:cNvPicPr/>
          <p:nvPr/>
        </p:nvPicPr>
        <p:blipFill>
          <a:blip r:embed="rId3"/>
          <a:stretch/>
        </p:blipFill>
        <p:spPr>
          <a:xfrm>
            <a:off x="3828960" y="1551960"/>
            <a:ext cx="743040" cy="96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Picture 19"/>
          <p:cNvPicPr/>
          <p:nvPr/>
        </p:nvPicPr>
        <p:blipFill>
          <a:blip r:embed="rId4"/>
          <a:srcRect l="68932" b="51516"/>
          <a:stretch/>
        </p:blipFill>
        <p:spPr>
          <a:xfrm>
            <a:off x="2156040" y="2286000"/>
            <a:ext cx="1501560" cy="66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Picture 6" descr="scikit-learn – Wikipédia, a enciclopédia livre"/>
          <p:cNvPicPr/>
          <p:nvPr/>
        </p:nvPicPr>
        <p:blipFill>
          <a:blip r:embed="rId5"/>
          <a:stretch/>
        </p:blipFill>
        <p:spPr>
          <a:xfrm>
            <a:off x="6093000" y="3282840"/>
            <a:ext cx="1211760" cy="65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22"/>
          <p:cNvPicPr/>
          <p:nvPr/>
        </p:nvPicPr>
        <p:blipFill>
          <a:blip r:embed="rId6"/>
          <a:stretch/>
        </p:blipFill>
        <p:spPr>
          <a:xfrm>
            <a:off x="685800" y="1738440"/>
            <a:ext cx="618120" cy="77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Picture 2" descr="Show notebooks in Drive"/>
          <p:cNvPicPr/>
          <p:nvPr/>
        </p:nvPicPr>
        <p:blipFill>
          <a:blip r:embed="rId7"/>
          <a:stretch/>
        </p:blipFill>
        <p:spPr>
          <a:xfrm>
            <a:off x="457200" y="2514600"/>
            <a:ext cx="932040" cy="93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Picture 6" descr="scikit-learn – Wikipédia, a enciclopédia livre"/>
          <p:cNvPicPr/>
          <p:nvPr/>
        </p:nvPicPr>
        <p:blipFill>
          <a:blip r:embed="rId5"/>
          <a:stretch/>
        </p:blipFill>
        <p:spPr>
          <a:xfrm>
            <a:off x="7818840" y="3740760"/>
            <a:ext cx="1211760" cy="65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Picture 10"/>
          <p:cNvPicPr/>
          <p:nvPr/>
        </p:nvPicPr>
        <p:blipFill>
          <a:blip r:embed="rId8"/>
          <a:stretch/>
        </p:blipFill>
        <p:spPr>
          <a:xfrm>
            <a:off x="7703640" y="2503800"/>
            <a:ext cx="1211760" cy="46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27"/>
          <p:cNvPicPr/>
          <p:nvPr/>
        </p:nvPicPr>
        <p:blipFill>
          <a:blip r:embed="rId9"/>
          <a:stretch/>
        </p:blipFill>
        <p:spPr>
          <a:xfrm>
            <a:off x="7647120" y="3078000"/>
            <a:ext cx="1984680" cy="57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Picture 2" descr="How To Install TensorFlow on CentOS 8 - idroot"/>
          <p:cNvPicPr/>
          <p:nvPr/>
        </p:nvPicPr>
        <p:blipFill>
          <a:blip r:embed="rId10"/>
          <a:stretch/>
        </p:blipFill>
        <p:spPr>
          <a:xfrm>
            <a:off x="9290520" y="2286000"/>
            <a:ext cx="988920" cy="60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Picture 4" descr="PyTorch Logo"/>
          <p:cNvPicPr/>
          <p:nvPr/>
        </p:nvPicPr>
        <p:blipFill>
          <a:blip r:embed="rId11"/>
          <a:stretch/>
        </p:blipFill>
        <p:spPr>
          <a:xfrm>
            <a:off x="9030960" y="1613520"/>
            <a:ext cx="1507320" cy="30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Picture 30"/>
          <p:cNvPicPr/>
          <p:nvPr/>
        </p:nvPicPr>
        <p:blipFill>
          <a:blip r:embed="rId12"/>
          <a:stretch/>
        </p:blipFill>
        <p:spPr>
          <a:xfrm>
            <a:off x="7819200" y="1828800"/>
            <a:ext cx="1211760" cy="49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Picture 6" descr="scikit-learn – Wikipédia, a enciclopédia livre"/>
          <p:cNvPicPr/>
          <p:nvPr/>
        </p:nvPicPr>
        <p:blipFill>
          <a:blip r:embed="rId5"/>
          <a:stretch/>
        </p:blipFill>
        <p:spPr>
          <a:xfrm>
            <a:off x="10873800" y="2930760"/>
            <a:ext cx="1211760" cy="65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Picture 2" descr="How to Build Chat into Django Applications with Twilio Programmable Chat -  Twilio"/>
          <p:cNvPicPr/>
          <p:nvPr/>
        </p:nvPicPr>
        <p:blipFill>
          <a:blip r:embed="rId13"/>
          <a:stretch/>
        </p:blipFill>
        <p:spPr>
          <a:xfrm>
            <a:off x="10785960" y="2169360"/>
            <a:ext cx="1299600" cy="58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Picture 4" descr="GitHub - tiangolo/fastapi: FastAPI framework, high performance, easy to  learn, fast to code, ready for production"/>
          <p:cNvPicPr/>
          <p:nvPr/>
        </p:nvPicPr>
        <p:blipFill>
          <a:blip r:embed="rId14"/>
          <a:stretch/>
        </p:blipFill>
        <p:spPr>
          <a:xfrm>
            <a:off x="10397160" y="1497240"/>
            <a:ext cx="1775520" cy="64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Box 32"/>
          <p:cNvSpPr/>
          <p:nvPr/>
        </p:nvSpPr>
        <p:spPr>
          <a:xfrm>
            <a:off x="8109000" y="5536080"/>
            <a:ext cx="198180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PT Sans"/>
              </a:rPr>
              <a:t>HIGHLY ITERATIVE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Picture 6" descr="scikit-learn – Wikipédia, a enciclopédia livre"/>
          <p:cNvPicPr/>
          <p:nvPr/>
        </p:nvPicPr>
        <p:blipFill>
          <a:blip r:embed="rId5"/>
          <a:stretch/>
        </p:blipFill>
        <p:spPr>
          <a:xfrm>
            <a:off x="3360240" y="3429000"/>
            <a:ext cx="1211760" cy="65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Picture 37"/>
          <p:cNvPicPr/>
          <p:nvPr/>
        </p:nvPicPr>
        <p:blipFill>
          <a:blip r:embed="rId3"/>
          <a:stretch/>
        </p:blipFill>
        <p:spPr>
          <a:xfrm>
            <a:off x="9793080" y="3017520"/>
            <a:ext cx="493920" cy="64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Picture 38"/>
          <p:cNvPicPr/>
          <p:nvPr/>
        </p:nvPicPr>
        <p:blipFill>
          <a:blip r:embed="rId4"/>
          <a:srcRect l="68932" b="51516"/>
          <a:stretch/>
        </p:blipFill>
        <p:spPr>
          <a:xfrm>
            <a:off x="9307440" y="3912120"/>
            <a:ext cx="979560" cy="43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Picture 10" descr="The Biopython Project"/>
          <p:cNvPicPr/>
          <p:nvPr/>
        </p:nvPicPr>
        <p:blipFill>
          <a:blip r:embed="rId15"/>
          <a:stretch/>
        </p:blipFill>
        <p:spPr>
          <a:xfrm>
            <a:off x="6540840" y="1749960"/>
            <a:ext cx="849960" cy="56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Picture 40"/>
          <p:cNvPicPr/>
          <p:nvPr/>
        </p:nvPicPr>
        <p:blipFill>
          <a:blip r:embed="rId12"/>
          <a:stretch/>
        </p:blipFill>
        <p:spPr>
          <a:xfrm>
            <a:off x="5029200" y="2252160"/>
            <a:ext cx="1211760" cy="49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Picture 41"/>
          <p:cNvPicPr/>
          <p:nvPr/>
        </p:nvPicPr>
        <p:blipFill>
          <a:blip r:embed="rId16"/>
          <a:srcRect l="-21945"/>
          <a:stretch/>
        </p:blipFill>
        <p:spPr>
          <a:xfrm>
            <a:off x="502920" y="3617640"/>
            <a:ext cx="670320" cy="84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Picture 42"/>
          <p:cNvPicPr/>
          <p:nvPr/>
        </p:nvPicPr>
        <p:blipFill>
          <a:blip r:embed="rId16"/>
          <a:srcRect l="-21945"/>
          <a:stretch/>
        </p:blipFill>
        <p:spPr>
          <a:xfrm>
            <a:off x="2301480" y="3657600"/>
            <a:ext cx="670320" cy="84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Picture 43"/>
          <p:cNvPicPr/>
          <p:nvPr/>
        </p:nvPicPr>
        <p:blipFill>
          <a:blip r:embed="rId16"/>
          <a:srcRect l="-21945"/>
          <a:stretch/>
        </p:blipFill>
        <p:spPr>
          <a:xfrm>
            <a:off x="5135400" y="3246480"/>
            <a:ext cx="670320" cy="84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Picture 44"/>
          <p:cNvPicPr/>
          <p:nvPr/>
        </p:nvPicPr>
        <p:blipFill>
          <a:blip r:embed="rId16"/>
          <a:srcRect l="-21945"/>
          <a:stretch/>
        </p:blipFill>
        <p:spPr>
          <a:xfrm>
            <a:off x="10975320" y="3738240"/>
            <a:ext cx="670320" cy="8463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46760" y="103680"/>
            <a:ext cx="6182640" cy="52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rgbClr val="23CB87"/>
                </a:solidFill>
                <a:effectLst/>
                <a:uFillTx/>
                <a:latin typeface="DIN Alternate"/>
              </a:rPr>
              <a:t>Sci-kit core elements: Estimators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 5"/>
          <p:cNvSpPr/>
          <p:nvPr/>
        </p:nvSpPr>
        <p:spPr>
          <a:xfrm>
            <a:off x="5956920" y="3667320"/>
            <a:ext cx="1506240" cy="15062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Untrained Estimator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8"/>
          <p:cNvSpPr/>
          <p:nvPr/>
        </p:nvSpPr>
        <p:spPr>
          <a:xfrm rot="16200000">
            <a:off x="-260640" y="3542760"/>
            <a:ext cx="97884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samples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1"/>
          <p:cNvSpPr/>
          <p:nvPr/>
        </p:nvSpPr>
        <p:spPr>
          <a:xfrm>
            <a:off x="3828600" y="808920"/>
            <a:ext cx="81036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Labels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Picture 14"/>
          <p:cNvPicPr/>
          <p:nvPr/>
        </p:nvPicPr>
        <p:blipFill>
          <a:blip r:embed="rId2"/>
          <a:stretch/>
        </p:blipFill>
        <p:spPr>
          <a:xfrm rot="5400000">
            <a:off x="1589760" y="3693240"/>
            <a:ext cx="529632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Picture 15"/>
          <p:cNvPicPr/>
          <p:nvPr/>
        </p:nvPicPr>
        <p:blipFill>
          <a:blip r:embed="rId3"/>
          <a:stretch/>
        </p:blipFill>
        <p:spPr>
          <a:xfrm>
            <a:off x="412920" y="1178280"/>
            <a:ext cx="3333960" cy="53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Right Arrow 16"/>
          <p:cNvSpPr/>
          <p:nvPr/>
        </p:nvSpPr>
        <p:spPr>
          <a:xfrm>
            <a:off x="4712040" y="4079520"/>
            <a:ext cx="103572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ight Arrow 17"/>
          <p:cNvSpPr/>
          <p:nvPr/>
        </p:nvSpPr>
        <p:spPr>
          <a:xfrm>
            <a:off x="7672680" y="4079520"/>
            <a:ext cx="116748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fit(X,y)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18"/>
          <p:cNvSpPr/>
          <p:nvPr/>
        </p:nvSpPr>
        <p:spPr>
          <a:xfrm>
            <a:off x="8917560" y="3667320"/>
            <a:ext cx="1506240" cy="1506240"/>
          </a:xfrm>
          <a:prstGeom prst="rect">
            <a:avLst/>
          </a:prstGeom>
          <a:solidFill>
            <a:srgbClr val="63BC9B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Trained Estimator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ight Arrow 19"/>
          <p:cNvSpPr/>
          <p:nvPr/>
        </p:nvSpPr>
        <p:spPr>
          <a:xfrm>
            <a:off x="10598760" y="4079520"/>
            <a:ext cx="148824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3BC9B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predict(Z)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0"/>
          <p:cNvSpPr/>
          <p:nvPr/>
        </p:nvSpPr>
        <p:spPr>
          <a:xfrm>
            <a:off x="1623960" y="808920"/>
            <a:ext cx="101916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Picture 21"/>
          <p:cNvPicPr/>
          <p:nvPr/>
        </p:nvPicPr>
        <p:blipFill>
          <a:blip r:embed="rId4"/>
          <a:stretch/>
        </p:blipFill>
        <p:spPr>
          <a:xfrm>
            <a:off x="9057600" y="415080"/>
            <a:ext cx="1270800" cy="202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Box 22"/>
          <p:cNvSpPr/>
          <p:nvPr/>
        </p:nvSpPr>
        <p:spPr>
          <a:xfrm>
            <a:off x="8951760" y="45720"/>
            <a:ext cx="142056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Unseen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ight Arrow 23"/>
          <p:cNvSpPr/>
          <p:nvPr/>
        </p:nvSpPr>
        <p:spPr>
          <a:xfrm rot="5400000">
            <a:off x="9153000" y="2755080"/>
            <a:ext cx="103572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1553760" y="2944080"/>
            <a:ext cx="1251720" cy="144612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3"/>
          <p:cNvSpPr/>
          <p:nvPr/>
        </p:nvSpPr>
        <p:spPr>
          <a:xfrm>
            <a:off x="9354600" y="942480"/>
            <a:ext cx="702720" cy="830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24"/>
          <p:cNvSpPr/>
          <p:nvPr/>
        </p:nvSpPr>
        <p:spPr>
          <a:xfrm>
            <a:off x="3643920" y="3096360"/>
            <a:ext cx="1251720" cy="83052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Picture 2"/>
          <p:cNvPicPr/>
          <p:nvPr/>
        </p:nvPicPr>
        <p:blipFill>
          <a:blip r:embed="rId2"/>
          <a:stretch/>
        </p:blipFill>
        <p:spPr>
          <a:xfrm>
            <a:off x="3119040" y="771120"/>
            <a:ext cx="5953680" cy="531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Rectangle 3"/>
          <p:cNvSpPr/>
          <p:nvPr/>
        </p:nvSpPr>
        <p:spPr>
          <a:xfrm>
            <a:off x="3614760" y="4680"/>
            <a:ext cx="489132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https://scikit-learn.org/stable/getting_started.html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46760" y="228600"/>
            <a:ext cx="6182640" cy="52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rgbClr val="23CB87"/>
                </a:solidFill>
                <a:effectLst/>
                <a:uFillTx/>
                <a:latin typeface="DIN Alternate"/>
              </a:rPr>
              <a:t>Sci-kit core elements: Transformers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ectangle 5"/>
          <p:cNvSpPr/>
          <p:nvPr/>
        </p:nvSpPr>
        <p:spPr>
          <a:xfrm>
            <a:off x="4726440" y="2973960"/>
            <a:ext cx="1506240" cy="15062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8"/>
          <p:cNvSpPr/>
          <p:nvPr/>
        </p:nvSpPr>
        <p:spPr>
          <a:xfrm rot="16200000">
            <a:off x="-260640" y="3542760"/>
            <a:ext cx="97884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samples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9"/>
          <p:cNvSpPr/>
          <p:nvPr/>
        </p:nvSpPr>
        <p:spPr>
          <a:xfrm>
            <a:off x="1623960" y="808920"/>
            <a:ext cx="101916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Picture 15"/>
          <p:cNvPicPr/>
          <p:nvPr/>
        </p:nvPicPr>
        <p:blipFill>
          <a:blip r:embed="rId3"/>
          <a:stretch/>
        </p:blipFill>
        <p:spPr>
          <a:xfrm>
            <a:off x="412920" y="1178280"/>
            <a:ext cx="3333960" cy="53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Right Arrow 16"/>
          <p:cNvSpPr/>
          <p:nvPr/>
        </p:nvSpPr>
        <p:spPr>
          <a:xfrm>
            <a:off x="3824640" y="3386160"/>
            <a:ext cx="80784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Right Arrow 17"/>
          <p:cNvSpPr/>
          <p:nvPr/>
        </p:nvSpPr>
        <p:spPr>
          <a:xfrm>
            <a:off x="6407640" y="3386160"/>
            <a:ext cx="220428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fit_transform(X)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8" name="Picture 2"/>
          <p:cNvPicPr/>
          <p:nvPr/>
        </p:nvPicPr>
        <p:blipFill>
          <a:blip r:embed="rId4"/>
          <a:stretch/>
        </p:blipFill>
        <p:spPr>
          <a:xfrm>
            <a:off x="8786880" y="1197360"/>
            <a:ext cx="3314880" cy="528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extBox 13"/>
          <p:cNvSpPr/>
          <p:nvPr/>
        </p:nvSpPr>
        <p:spPr>
          <a:xfrm>
            <a:off x="9209160" y="807840"/>
            <a:ext cx="229104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Transformed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10"/>
          <p:cNvSpPr/>
          <p:nvPr/>
        </p:nvSpPr>
        <p:spPr>
          <a:xfrm>
            <a:off x="1553760" y="2944080"/>
            <a:ext cx="1251720" cy="144612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1"/>
          <p:cNvSpPr/>
          <p:nvPr/>
        </p:nvSpPr>
        <p:spPr>
          <a:xfrm>
            <a:off x="10005120" y="3003840"/>
            <a:ext cx="1251720" cy="14461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icture 2"/>
          <p:cNvPicPr/>
          <p:nvPr/>
        </p:nvPicPr>
        <p:blipFill>
          <a:blip r:embed="rId2"/>
          <a:stretch/>
        </p:blipFill>
        <p:spPr>
          <a:xfrm>
            <a:off x="3676320" y="1776240"/>
            <a:ext cx="4839120" cy="3305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1950840" y="103680"/>
            <a:ext cx="8125200" cy="52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rgbClr val="23CB87"/>
                </a:solidFill>
                <a:effectLst/>
                <a:uFillTx/>
                <a:latin typeface="DIN Alternate"/>
              </a:rPr>
              <a:t>sci-kit core elements: A normal workflow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5"/>
          <p:cNvSpPr/>
          <p:nvPr/>
        </p:nvSpPr>
        <p:spPr>
          <a:xfrm>
            <a:off x="181800" y="4875840"/>
            <a:ext cx="1506240" cy="15062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9"/>
          <p:cNvSpPr/>
          <p:nvPr/>
        </p:nvSpPr>
        <p:spPr>
          <a:xfrm>
            <a:off x="181800" y="752760"/>
            <a:ext cx="1374480" cy="36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Picture 15"/>
          <p:cNvPicPr/>
          <p:nvPr/>
        </p:nvPicPr>
        <p:blipFill>
          <a:blip r:embed="rId4"/>
          <a:stretch/>
        </p:blipFill>
        <p:spPr>
          <a:xfrm>
            <a:off x="19080" y="1123200"/>
            <a:ext cx="1711440" cy="272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Right Arrow 16"/>
          <p:cNvSpPr/>
          <p:nvPr/>
        </p:nvSpPr>
        <p:spPr>
          <a:xfrm rot="5400000">
            <a:off x="465480" y="4058280"/>
            <a:ext cx="80784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ight Arrow 17"/>
          <p:cNvSpPr/>
          <p:nvPr/>
        </p:nvSpPr>
        <p:spPr>
          <a:xfrm>
            <a:off x="1765800" y="5287680"/>
            <a:ext cx="138600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fit_transform(X)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9" name="Picture 2"/>
          <p:cNvPicPr/>
          <p:nvPr/>
        </p:nvPicPr>
        <p:blipFill>
          <a:blip r:embed="rId5"/>
          <a:stretch/>
        </p:blipFill>
        <p:spPr>
          <a:xfrm>
            <a:off x="3292920" y="4116600"/>
            <a:ext cx="1701720" cy="27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TextBox 13"/>
          <p:cNvSpPr/>
          <p:nvPr/>
        </p:nvSpPr>
        <p:spPr>
          <a:xfrm>
            <a:off x="2630160" y="3748680"/>
            <a:ext cx="2843640" cy="36900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" name="Picture 10"/>
          <p:cNvPicPr/>
          <p:nvPr/>
        </p:nvPicPr>
        <p:blipFill>
          <a:blip r:embed="rId7"/>
          <a:stretch/>
        </p:blipFill>
        <p:spPr>
          <a:xfrm rot="5400000">
            <a:off x="1073880" y="2409840"/>
            <a:ext cx="2714040" cy="13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Rectangle 11"/>
          <p:cNvSpPr/>
          <p:nvPr/>
        </p:nvSpPr>
        <p:spPr>
          <a:xfrm>
            <a:off x="5609160" y="1087920"/>
            <a:ext cx="1506240" cy="15062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Untrained Estimator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Right Arrow 12"/>
          <p:cNvSpPr/>
          <p:nvPr/>
        </p:nvSpPr>
        <p:spPr>
          <a:xfrm>
            <a:off x="7324560" y="1500120"/>
            <a:ext cx="1167480" cy="681840"/>
          </a:xfrm>
          <a:prstGeom prst="rightArrow">
            <a:avLst>
              <a:gd name="adj1" fmla="val 50000"/>
              <a:gd name="adj2" fmla="val 50000"/>
            </a:avLst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14"/>
          <p:cNvSpPr/>
          <p:nvPr/>
        </p:nvSpPr>
        <p:spPr>
          <a:xfrm>
            <a:off x="8569800" y="1087920"/>
            <a:ext cx="1506240" cy="1506240"/>
          </a:xfrm>
          <a:prstGeom prst="rect">
            <a:avLst/>
          </a:prstGeom>
          <a:solidFill>
            <a:srgbClr val="63BC9B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Trained Estimator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ight Arrow 18"/>
          <p:cNvSpPr/>
          <p:nvPr/>
        </p:nvSpPr>
        <p:spPr>
          <a:xfrm>
            <a:off x="10153440" y="1500120"/>
            <a:ext cx="1453680" cy="681840"/>
          </a:xfrm>
          <a:prstGeom prst="rightArrow">
            <a:avLst>
              <a:gd name="adj1" fmla="val 50000"/>
              <a:gd name="adj2" fmla="val 50000"/>
            </a:avLst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9"/>
          <p:cNvSpPr/>
          <p:nvPr/>
        </p:nvSpPr>
        <p:spPr>
          <a:xfrm>
            <a:off x="1893600" y="767880"/>
            <a:ext cx="110592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Labels (y)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7" name="Curved Connector 4"/>
          <p:cNvCxnSpPr/>
          <p:nvPr/>
        </p:nvCxnSpPr>
        <p:spPr>
          <a:xfrm>
            <a:off x="2827800" y="1504800"/>
            <a:ext cx="2613240" cy="12960"/>
          </a:xfrm>
          <a:prstGeom prst="curvedConnector3">
            <a:avLst>
              <a:gd name="adj1" fmla="val 50013"/>
            </a:avLst>
          </a:prstGeom>
          <a:ln w="76200">
            <a:solidFill>
              <a:srgbClr val="4472C4"/>
            </a:solidFill>
            <a:tailEnd type="triangle" w="med" len="med"/>
          </a:ln>
        </p:spPr>
      </p:cxnSp>
      <p:pic>
        <p:nvPicPr>
          <p:cNvPr id="188" name="Picture 29"/>
          <p:cNvPicPr/>
          <p:nvPr/>
        </p:nvPicPr>
        <p:blipFill>
          <a:blip r:embed="rId10"/>
          <a:stretch/>
        </p:blipFill>
        <p:spPr>
          <a:xfrm>
            <a:off x="5832360" y="4399560"/>
            <a:ext cx="1365480" cy="217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Box 30"/>
          <p:cNvSpPr/>
          <p:nvPr/>
        </p:nvSpPr>
        <p:spPr>
          <a:xfrm>
            <a:off x="5711760" y="4074840"/>
            <a:ext cx="1781640" cy="36900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31"/>
          <p:cNvSpPr/>
          <p:nvPr/>
        </p:nvSpPr>
        <p:spPr>
          <a:xfrm>
            <a:off x="7806960" y="4661280"/>
            <a:ext cx="1506240" cy="150624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ight Arrow 32"/>
          <p:cNvSpPr/>
          <p:nvPr/>
        </p:nvSpPr>
        <p:spPr>
          <a:xfrm>
            <a:off x="7318440" y="5115240"/>
            <a:ext cx="45720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ight Arrow 33"/>
          <p:cNvSpPr/>
          <p:nvPr/>
        </p:nvSpPr>
        <p:spPr>
          <a:xfrm>
            <a:off x="9344520" y="5183280"/>
            <a:ext cx="948240" cy="49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fit_transform(Z)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93" name="Curved Connector 36"/>
          <p:cNvCxnSpPr/>
          <p:nvPr/>
        </p:nvCxnSpPr>
        <p:spPr>
          <a:xfrm flipV="1">
            <a:off x="3780360" y="2111040"/>
            <a:ext cx="1660680" cy="1464840"/>
          </a:xfrm>
          <a:prstGeom prst="curvedConnector3">
            <a:avLst>
              <a:gd name="adj1" fmla="val 50000"/>
            </a:avLst>
          </a:prstGeom>
          <a:ln w="76200">
            <a:solidFill>
              <a:srgbClr val="4472C4"/>
            </a:solidFill>
            <a:tailEnd type="triangle" w="med" len="med"/>
          </a:ln>
        </p:spPr>
      </p:cxnSp>
      <p:pic>
        <p:nvPicPr>
          <p:cNvPr id="194" name="Picture 37"/>
          <p:cNvPicPr/>
          <p:nvPr/>
        </p:nvPicPr>
        <p:blipFill>
          <a:blip r:embed="rId13"/>
          <a:stretch/>
        </p:blipFill>
        <p:spPr>
          <a:xfrm>
            <a:off x="10324080" y="4455000"/>
            <a:ext cx="1366920" cy="218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TextBox 38"/>
          <p:cNvSpPr/>
          <p:nvPr/>
        </p:nvSpPr>
        <p:spPr>
          <a:xfrm>
            <a:off x="9909720" y="4085640"/>
            <a:ext cx="2441160" cy="36900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6" name="Curved Connector 41"/>
          <p:cNvCxnSpPr>
            <a:stCxn id="195" idx="0"/>
          </p:cNvCxnSpPr>
          <p:nvPr/>
        </p:nvCxnSpPr>
        <p:spPr>
          <a:xfrm rot="16200000" flipV="1">
            <a:off x="9725040" y="2680200"/>
            <a:ext cx="1434240" cy="1377000"/>
          </a:xfrm>
          <a:prstGeom prst="curvedConnector3">
            <a:avLst>
              <a:gd name="adj1" fmla="val 49987"/>
            </a:avLst>
          </a:prstGeom>
          <a:ln w="76200">
            <a:solidFill>
              <a:srgbClr val="4472C4"/>
            </a:solidFill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9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0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5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8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6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9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4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9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Picture 1"/>
          <p:cNvPicPr/>
          <p:nvPr/>
        </p:nvPicPr>
        <p:blipFill>
          <a:blip r:embed="rId2"/>
          <a:stretch/>
        </p:blipFill>
        <p:spPr>
          <a:xfrm>
            <a:off x="2075760" y="299520"/>
            <a:ext cx="8039880" cy="6258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3"/>
          <p:cNvSpPr/>
          <p:nvPr/>
        </p:nvSpPr>
        <p:spPr>
          <a:xfrm>
            <a:off x="4153320" y="3119760"/>
            <a:ext cx="3326400" cy="22237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950840" y="103680"/>
            <a:ext cx="8125200" cy="52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rgbClr val="23CB87"/>
                </a:solidFill>
                <a:effectLst/>
                <a:uFillTx/>
                <a:latin typeface="DIN Alternate"/>
              </a:rPr>
              <a:t>sci-kit core elements: Pipelines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0" name="Rectangle 5"/>
          <p:cNvSpPr/>
          <p:nvPr/>
        </p:nvSpPr>
        <p:spPr>
          <a:xfrm>
            <a:off x="4258440" y="3707280"/>
            <a:ext cx="1506240" cy="15062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9"/>
          <p:cNvSpPr/>
          <p:nvPr/>
        </p:nvSpPr>
        <p:spPr>
          <a:xfrm>
            <a:off x="609480" y="2734920"/>
            <a:ext cx="1374480" cy="36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" name="Picture 15"/>
          <p:cNvPicPr/>
          <p:nvPr/>
        </p:nvPicPr>
        <p:blipFill>
          <a:blip r:embed="rId4"/>
          <a:stretch/>
        </p:blipFill>
        <p:spPr>
          <a:xfrm>
            <a:off x="446760" y="3105360"/>
            <a:ext cx="1711440" cy="272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Right Arrow 16"/>
          <p:cNvSpPr/>
          <p:nvPr/>
        </p:nvSpPr>
        <p:spPr>
          <a:xfrm>
            <a:off x="3135960" y="4126320"/>
            <a:ext cx="80784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04" name="Picture 10"/>
          <p:cNvPicPr/>
          <p:nvPr/>
        </p:nvPicPr>
        <p:blipFill>
          <a:blip r:embed="rId5"/>
          <a:stretch/>
        </p:blipFill>
        <p:spPr>
          <a:xfrm rot="5400000">
            <a:off x="1501560" y="4392000"/>
            <a:ext cx="2714040" cy="13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Rectangle 11"/>
          <p:cNvSpPr/>
          <p:nvPr/>
        </p:nvSpPr>
        <p:spPr>
          <a:xfrm>
            <a:off x="5852160" y="3707280"/>
            <a:ext cx="1506240" cy="15062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Untrained Estimator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Right Arrow 12"/>
          <p:cNvSpPr/>
          <p:nvPr/>
        </p:nvSpPr>
        <p:spPr>
          <a:xfrm>
            <a:off x="7567200" y="4119480"/>
            <a:ext cx="116748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fit(X,y)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14"/>
          <p:cNvSpPr/>
          <p:nvPr/>
        </p:nvSpPr>
        <p:spPr>
          <a:xfrm>
            <a:off x="8822160" y="3714120"/>
            <a:ext cx="1506240" cy="1506240"/>
          </a:xfrm>
          <a:prstGeom prst="rect">
            <a:avLst/>
          </a:prstGeom>
          <a:solidFill>
            <a:srgbClr val="63BC9B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Trained Pipeline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ight Arrow 18"/>
          <p:cNvSpPr/>
          <p:nvPr/>
        </p:nvSpPr>
        <p:spPr>
          <a:xfrm>
            <a:off x="10452960" y="4119480"/>
            <a:ext cx="127908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3BC9B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predict(Z)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9"/>
          <p:cNvSpPr/>
          <p:nvPr/>
        </p:nvSpPr>
        <p:spPr>
          <a:xfrm>
            <a:off x="2321280" y="2750400"/>
            <a:ext cx="110592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Labels (y)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6"/>
          <p:cNvSpPr/>
          <p:nvPr/>
        </p:nvSpPr>
        <p:spPr>
          <a:xfrm>
            <a:off x="4258440" y="3237480"/>
            <a:ext cx="200808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Untrained Pipeline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Picture 20"/>
          <p:cNvPicPr/>
          <p:nvPr/>
        </p:nvPicPr>
        <p:blipFill>
          <a:blip r:embed="rId6"/>
          <a:stretch/>
        </p:blipFill>
        <p:spPr>
          <a:xfrm>
            <a:off x="9057600" y="415080"/>
            <a:ext cx="1270800" cy="202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Box 21"/>
          <p:cNvSpPr/>
          <p:nvPr/>
        </p:nvSpPr>
        <p:spPr>
          <a:xfrm>
            <a:off x="8862480" y="45720"/>
            <a:ext cx="1781640" cy="36900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ight Arrow 23"/>
          <p:cNvSpPr/>
          <p:nvPr/>
        </p:nvSpPr>
        <p:spPr>
          <a:xfrm rot="5400000">
            <a:off x="9153000" y="2755080"/>
            <a:ext cx="103572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1"/>
          <p:cNvPicPr/>
          <p:nvPr/>
        </p:nvPicPr>
        <p:blipFill>
          <a:blip r:embed="rId2"/>
          <a:stretch/>
        </p:blipFill>
        <p:spPr>
          <a:xfrm>
            <a:off x="2156760" y="456840"/>
            <a:ext cx="7877880" cy="5943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228600" y="530640"/>
            <a:ext cx="5619240" cy="38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77500" lnSpcReduction="19999"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rgbClr val="23CB87"/>
                </a:solidFill>
                <a:effectLst/>
                <a:uFillTx/>
                <a:latin typeface="DIN Alternate"/>
              </a:rPr>
              <a:t>Choosing the right estimator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3"/>
          <p:cNvSpPr/>
          <p:nvPr/>
        </p:nvSpPr>
        <p:spPr>
          <a:xfrm>
            <a:off x="268560" y="2144880"/>
            <a:ext cx="7275240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https://scikit-learn.org/stable/tutorial/machine_learning_map/index.html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228600" y="685800"/>
            <a:ext cx="4114800" cy="62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rgbClr val="23CB87"/>
                </a:solidFill>
                <a:effectLst/>
                <a:uFillTx/>
                <a:latin typeface="DIN Alternate"/>
              </a:rPr>
              <a:t>Model Evaluation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18" name="Picture 3"/>
          <p:cNvPicPr/>
          <p:nvPr/>
        </p:nvPicPr>
        <p:blipFill>
          <a:blip r:embed="rId2"/>
          <a:stretch/>
        </p:blipFill>
        <p:spPr>
          <a:xfrm>
            <a:off x="2542320" y="1952640"/>
            <a:ext cx="7516080" cy="2390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rgbClr val="23CB87"/>
                </a:solidFill>
                <a:effectLst/>
                <a:uFillTx/>
                <a:latin typeface="DIN Alternate"/>
              </a:rPr>
              <a:t>Final tips for learning scikit-learn </a:t>
            </a:r>
            <a:r>
              <a:rPr lang="en-US" sz="33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DIN Alternate"/>
              </a:rPr>
              <a:t>(and any other library)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Read about what it is to determine if it’s worth learning</a:t>
            </a: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Look at how many stackoverflow questions there are</a:t>
            </a: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Does it help you solve the problem you are having?</a:t>
            </a: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Follow simple examples and tutorials (often, the official ones are the best ones)</a:t>
            </a: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PT Sans"/>
              </a:rPr>
              <a:t>Read the documentation while you use it</a:t>
            </a: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FF0000"/>
              </a:buClr>
              <a:buFont typeface="Arial"/>
              <a:buChar char="•"/>
            </a:pPr>
            <a:r>
              <a:rPr lang="en-US" sz="6000" b="0" u="none" strike="noStrike">
                <a:solidFill>
                  <a:srgbClr val="FF0000"/>
                </a:solidFill>
                <a:effectLst/>
                <a:uFillTx/>
                <a:latin typeface="PT Sans"/>
              </a:rPr>
              <a:t>READ THE DOCUMENTATION!!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500"/>
                                        <p:tgtEl>
                                          <p:spTgt spid="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" dur="500"/>
                                        <p:tgtEl>
                                          <p:spTgt spid="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7" dur="500"/>
                                        <p:tgtEl>
                                          <p:spTgt spid="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2" dur="500"/>
                                        <p:tgtEl>
                                          <p:spTgt spid="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ateo JournalClub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Mateo JournalClub</Template>
  <TotalTime>912</TotalTime>
  <Words>303</Words>
  <Application>Microsoft Macintosh PowerPoint</Application>
  <PresentationFormat>Widescreen</PresentationFormat>
  <Paragraphs>80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DIN Alternate</vt:lpstr>
      <vt:lpstr>PT Sans</vt:lpstr>
      <vt:lpstr>Symbol</vt:lpstr>
      <vt:lpstr>Times New Roman</vt:lpstr>
      <vt:lpstr>Wingdings</vt:lpstr>
      <vt:lpstr>Mateo JournalClub</vt:lpstr>
      <vt:lpstr>Scikit-learn</vt:lpstr>
      <vt:lpstr>Scikit-learn in the Python data science “ecosystem”</vt:lpstr>
      <vt:lpstr>Why do we care? </vt:lpstr>
      <vt:lpstr>Sci-kit core elements: Estimators</vt:lpstr>
      <vt:lpstr>PowerPoint Presentation</vt:lpstr>
      <vt:lpstr>Sci-kit core elements: Transformers</vt:lpstr>
      <vt:lpstr>PowerPoint Presentation</vt:lpstr>
      <vt:lpstr>sci-kit core elements: A normal workflow</vt:lpstr>
      <vt:lpstr>PowerPoint Presentation</vt:lpstr>
      <vt:lpstr>sci-kit core elements: Pipelines</vt:lpstr>
      <vt:lpstr>PowerPoint Presentation</vt:lpstr>
      <vt:lpstr>Choosing the right estimator</vt:lpstr>
      <vt:lpstr>Model Evaluation</vt:lpstr>
      <vt:lpstr>Final tips for learning scikit-learn (and any other library)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Scikit-learn</dc:title>
  <dc:subject/>
  <dc:creator>Torres, Mateo (2015)</dc:creator>
  <dc:description/>
  <cp:lastModifiedBy>MARCELO JULIÁN BÁEZ FERREIRA</cp:lastModifiedBy>
  <cp:revision>24</cp:revision>
  <dcterms:created xsi:type="dcterms:W3CDTF">2021-03-10T01:34:28Z</dcterms:created>
  <dcterms:modified xsi:type="dcterms:W3CDTF">2026-03-11T12:33:37Z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4496a64-e0e3-4038-91bc-493f618853ad_ActionId">
    <vt:lpwstr>2c90c2a6-6d0d-434e-a667-3a9f9614134d</vt:lpwstr>
  </property>
  <property fmtid="{D5CDD505-2E9C-101B-9397-08002B2CF9AE}" pid="3" name="MSIP_Label_c4496a64-e0e3-4038-91bc-493f618853ad_ContentBits">
    <vt:lpwstr>0</vt:lpwstr>
  </property>
  <property fmtid="{D5CDD505-2E9C-101B-9397-08002B2CF9AE}" pid="4" name="MSIP_Label_c4496a64-e0e3-4038-91bc-493f618853ad_Enabled">
    <vt:lpwstr>true</vt:lpwstr>
  </property>
  <property fmtid="{D5CDD505-2E9C-101B-9397-08002B2CF9AE}" pid="5" name="MSIP_Label_c4496a64-e0e3-4038-91bc-493f618853ad_Method">
    <vt:lpwstr>Standard</vt:lpwstr>
  </property>
  <property fmtid="{D5CDD505-2E9C-101B-9397-08002B2CF9AE}" pid="6" name="MSIP_Label_c4496a64-e0e3-4038-91bc-493f618853ad_Name">
    <vt:lpwstr>General</vt:lpwstr>
  </property>
  <property fmtid="{D5CDD505-2E9C-101B-9397-08002B2CF9AE}" pid="7" name="MSIP_Label_c4496a64-e0e3-4038-91bc-493f618853ad_SetDate">
    <vt:lpwstr>2021-03-10T01:34:29Z</vt:lpwstr>
  </property>
  <property fmtid="{D5CDD505-2E9C-101B-9397-08002B2CF9AE}" pid="8" name="MSIP_Label_c4496a64-e0e3-4038-91bc-493f618853ad_SiteId">
    <vt:lpwstr>2efd699a-1922-4e69-b601-108008d28a2e</vt:lpwstr>
  </property>
  <property fmtid="{D5CDD505-2E9C-101B-9397-08002B2CF9AE}" pid="9" name="Notes">
    <vt:i4>2</vt:i4>
  </property>
  <property fmtid="{D5CDD505-2E9C-101B-9397-08002B2CF9AE}" pid="10" name="PresentationFormat">
    <vt:lpwstr>Widescreen</vt:lpwstr>
  </property>
  <property fmtid="{D5CDD505-2E9C-101B-9397-08002B2CF9AE}" pid="11" name="Slides">
    <vt:i4>14</vt:i4>
  </property>
</Properties>
</file>